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9"/>
  </p:notesMasterIdLst>
  <p:sldIdLst>
    <p:sldId id="329" r:id="rId2"/>
    <p:sldId id="313" r:id="rId3"/>
    <p:sldId id="330" r:id="rId4"/>
    <p:sldId id="333" r:id="rId5"/>
    <p:sldId id="334" r:id="rId6"/>
    <p:sldId id="319" r:id="rId7"/>
    <p:sldId id="300" r:id="rId8"/>
    <p:sldId id="327" r:id="rId9"/>
    <p:sldId id="301" r:id="rId10"/>
    <p:sldId id="328" r:id="rId11"/>
    <p:sldId id="335" r:id="rId12"/>
    <p:sldId id="310" r:id="rId13"/>
    <p:sldId id="315" r:id="rId14"/>
    <p:sldId id="316" r:id="rId15"/>
    <p:sldId id="317" r:id="rId16"/>
    <p:sldId id="318" r:id="rId17"/>
    <p:sldId id="296" r:id="rId18"/>
    <p:sldId id="324" r:id="rId19"/>
    <p:sldId id="320" r:id="rId20"/>
    <p:sldId id="307" r:id="rId21"/>
    <p:sldId id="311" r:id="rId22"/>
    <p:sldId id="321" r:id="rId23"/>
    <p:sldId id="322" r:id="rId24"/>
    <p:sldId id="323" r:id="rId25"/>
    <p:sldId id="336" r:id="rId26"/>
    <p:sldId id="337" r:id="rId27"/>
    <p:sldId id="338" r:id="rId28"/>
  </p:sldIdLst>
  <p:sldSz cx="9144000" cy="5143500" type="screen16x9"/>
  <p:notesSz cx="6858000" cy="9144000"/>
  <p:embeddedFontLst>
    <p:embeddedFont>
      <p:font typeface="Aptos Display" panose="020B0004020202020204" pitchFamily="34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EC5275-DAFC-4D1D-BB08-226AE4820BEA}">
  <a:tblStyle styleId="{26EC5275-DAFC-4D1D-BB08-226AE4820B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7D29FD1-D880-4DB6-BB14-3170E5B727E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247" autoAdjust="0"/>
  </p:normalViewPr>
  <p:slideViewPr>
    <p:cSldViewPr snapToGrid="0">
      <p:cViewPr varScale="1">
        <p:scale>
          <a:sx n="80" d="100"/>
          <a:sy n="80" d="100"/>
        </p:scale>
        <p:origin x="58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193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637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35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290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4983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765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747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212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87316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574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851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315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955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336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999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198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89719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275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8905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082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3593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24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9510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01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714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95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3633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E953-25B8-3FF1-1791-FD05F439B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46854-10F8-E22F-DE10-4642CB0D1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AAACB-DA53-B27C-03C4-D0C10B57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A9BA8-18B9-A706-87DF-C12C0FD3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7CC34-5B7D-7878-ED20-3C20ED25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001948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CB28-26E7-A219-D49B-0F193F377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E3A6-18CD-2108-3024-D699B8597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F7DD9-8213-1C78-92A1-2BD8319D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3224C-3A40-1417-8CCA-D1989AEC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61C7A-C87C-3BC8-2487-CA009505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8881981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D5AD-F27D-C197-E69A-765BB4B77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6F331-83DB-4AE6-0033-7431FDF48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E5373-E3B5-A54A-AD32-1660DD77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CC38D-62F3-4AA5-896B-28FD33C8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48771-39C7-F12C-4306-2B8090D4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49055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C538-BD6A-7297-6B89-1BE4155D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3169D-4472-6026-AED5-6B7699D1E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61409-D0A1-9543-879E-A8DEB14C2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DB7EF-EECE-F7AF-4F98-A7445805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2E5A6E-3924-1459-6608-516862033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59010-57D6-A1B5-690E-DC45B5DD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9615588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BA05-4832-33A2-B9A5-DB4403EA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73016-7E62-310B-4170-240AB6EF2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7EC1F-6293-BB27-B09B-16D888CE8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A5445-C948-3E07-CE79-04956E519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66CE83-55E8-1E8C-77F2-F2F31DD07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3B01D-B83F-2720-1363-4E84FBAC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D3B9C-B3B8-AB57-CB1F-0F61AAE8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472DEC-0BE8-004F-E0C0-2B76D42B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5590415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0DE9-11EA-698F-7D50-276385A9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120DE7-A25A-12B6-5F20-9E6BAECDD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42FE1-3925-66DF-3210-343191BB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5C7EE-ACF3-AEF6-6F86-6E341AA0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87653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0C8BDB-403D-880E-E8F5-E0FA76B3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FC9E-C8EF-CE33-0224-31D7FC0D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2F1D8-86C0-271B-D4A8-E52F592E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1033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BBB9-7809-0BEF-5DE1-F79A4160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3E1B3-B6EF-BC02-93DC-F5069E369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AC8CB-F0B8-D1E2-D6C3-D13351408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94DF9-E383-CB91-D094-BA2DD9DE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4DAC8-DED8-1D12-FA75-1AEB06EDC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07DD7-DE95-744F-4656-F324C3BE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117857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9060-208B-F9BE-EB0A-626C70D51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038DE-8A31-800A-C295-857101143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E2D4D-54F8-7D9A-EA7F-D8A42C6F8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FF88E-A037-7599-4127-E0821DBA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275D2-7B9E-D26D-0984-C1EA70F7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CCC4F-CC13-E709-ACC8-199D65C8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8606515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A2E4-13F0-58D8-7F2D-DD5E31CE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2CCD2-3CA7-ABE0-CCCD-A2467E1D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450A6-6F67-8B2F-4035-9D2F1707E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7662D-CFD2-59B2-E705-99C7D57D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5B8AC-A221-2271-6B61-D1577186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445470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B3438B-2F67-A067-E453-572CC0E4E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237B-00FC-E47A-D765-EB0AB7A3C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397F8-B0D8-64C4-19BD-C11B6EF81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40F5E-4E94-D9BD-0E75-93B8A24D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01ACD-FF73-D84B-64DB-10F42391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535805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4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855275" y="1576550"/>
            <a:ext cx="3473100" cy="30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815599" y="1576550"/>
            <a:ext cx="3473100" cy="30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786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C5D05-034B-442F-199F-F1E723518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2CE49-3B90-7953-19AF-D20391E54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E2A68-8FC4-EADC-C5ED-11B191DD7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42D5D-955B-4694-A631-E460C423DD13}" type="datetimeFigureOut">
              <a:rPr lang="en-US" smtClean="0"/>
              <a:t>04-May-24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CE749-67E2-0CC3-52AA-89E4B14EE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5738-7A18-1474-83E1-AAA493509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5074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1" r:id="rId12"/>
  </p:sldLayoutIdLst>
  <p:transition>
    <p:fade thruBlk="1"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jpe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F5870-A34C-7D4A-71FE-B716A0309263}"/>
              </a:ext>
            </a:extLst>
          </p:cNvPr>
          <p:cNvSpPr txBox="1"/>
          <p:nvPr/>
        </p:nvSpPr>
        <p:spPr>
          <a:xfrm>
            <a:off x="1507451" y="3761848"/>
            <a:ext cx="62636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BillForge KUET Teachers’ Edition</a:t>
            </a:r>
          </a:p>
          <a:p>
            <a:pPr algn="ctr"/>
            <a:r>
              <a:rPr lang="en-US" sz="2300" b="1" dirty="0"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(An automatic bill generator from docx file)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5611C-D66F-0A43-E6DA-C6BFFA8B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423" y="454433"/>
            <a:ext cx="2927053" cy="29270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9440A2-1E1F-3DB3-49CF-A6E2F0A47AB9}"/>
              </a:ext>
            </a:extLst>
          </p:cNvPr>
          <p:cNvSpPr txBox="1"/>
          <p:nvPr/>
        </p:nvSpPr>
        <p:spPr>
          <a:xfrm>
            <a:off x="4660900" y="4767263"/>
            <a:ext cx="56515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Developed by: </a:t>
            </a:r>
            <a:r>
              <a:rPr lang="en-US" sz="1000" dirty="0" err="1"/>
              <a:t>Chinmoy</a:t>
            </a:r>
            <a:r>
              <a:rPr lang="en-US" sz="1000" dirty="0"/>
              <a:t> </a:t>
            </a:r>
            <a:r>
              <a:rPr lang="en-US" sz="1000" dirty="0" err="1"/>
              <a:t>Modak</a:t>
            </a:r>
            <a:r>
              <a:rPr lang="en-US" sz="1000" dirty="0"/>
              <a:t> </a:t>
            </a:r>
            <a:r>
              <a:rPr lang="en-US" sz="1000" dirty="0" err="1"/>
              <a:t>Turjo</a:t>
            </a:r>
            <a:r>
              <a:rPr lang="en-US" sz="1000" dirty="0"/>
              <a:t>(2k19) &amp; Swaraj Chandra Biswas(2k19)</a:t>
            </a:r>
          </a:p>
          <a:p>
            <a:r>
              <a:rPr lang="en-US" sz="10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21444"/>
      </p:ext>
    </p:extLst>
  </p:cSld>
  <p:clrMapOvr>
    <a:masterClrMapping/>
  </p:clrMapOvr>
  <p:transition advTm="4884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7"/>
            <a:ext cx="3315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 of Input Docx: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85099-10C4-D5D1-6116-FCFC927F027F}"/>
              </a:ext>
            </a:extLst>
          </p:cNvPr>
          <p:cNvSpPr txBox="1"/>
          <p:nvPr/>
        </p:nvSpPr>
        <p:spPr>
          <a:xfrm>
            <a:off x="4286250" y="623085"/>
            <a:ext cx="4622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Input:</a:t>
            </a:r>
          </a:p>
          <a:p>
            <a:r>
              <a:rPr lang="en-US" sz="1600" dirty="0"/>
              <a:t>1.Input File must be saved in .docx format.</a:t>
            </a:r>
          </a:p>
          <a:p>
            <a:r>
              <a:rPr lang="en-US" sz="1600" dirty="0"/>
              <a:t>2.Just open your file or document in Microsoft Word and save as .docx format.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C84B1-F14E-FFBC-B750-B791A293509B}"/>
              </a:ext>
            </a:extLst>
          </p:cNvPr>
          <p:cNvSpPr txBox="1"/>
          <p:nvPr/>
        </p:nvSpPr>
        <p:spPr>
          <a:xfrm>
            <a:off x="4286250" y="1740641"/>
            <a:ext cx="47180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Format of Input docx:</a:t>
            </a:r>
          </a:p>
          <a:p>
            <a:r>
              <a:rPr lang="en-US" sz="1600" dirty="0"/>
              <a:t>1.All Table(15 tables) should be included In input.docx</a:t>
            </a:r>
          </a:p>
          <a:p>
            <a:r>
              <a:rPr lang="en-US" sz="1600" dirty="0"/>
              <a:t>2.Order of table must be same as example.  </a:t>
            </a:r>
          </a:p>
          <a:p>
            <a:r>
              <a:rPr lang="en-US" sz="1600" dirty="0"/>
              <a:t>3.If no data in any table, just keep a blank table.</a:t>
            </a:r>
          </a:p>
          <a:p>
            <a:r>
              <a:rPr lang="en-US" sz="1600" dirty="0"/>
              <a:t>Like: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469FF6-C37A-1A29-729D-0CFA9392E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467" y="2949334"/>
            <a:ext cx="4353533" cy="1314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2CAB11-1DC8-9CC8-EF79-A7FD87C97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20" y="512734"/>
            <a:ext cx="3263711" cy="464975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B10DF6C-3CCD-336D-96DE-4D69D925B91E}"/>
              </a:ext>
            </a:extLst>
          </p:cNvPr>
          <p:cNvSpPr/>
          <p:nvPr/>
        </p:nvSpPr>
        <p:spPr>
          <a:xfrm>
            <a:off x="2634018" y="3316406"/>
            <a:ext cx="238836" cy="1091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C96719-6825-8B95-E694-C8ECF414DB43}"/>
              </a:ext>
            </a:extLst>
          </p:cNvPr>
          <p:cNvCxnSpPr>
            <a:stCxn id="10" idx="5"/>
          </p:cNvCxnSpPr>
          <p:nvPr/>
        </p:nvCxnSpPr>
        <p:spPr>
          <a:xfrm>
            <a:off x="2837877" y="3409599"/>
            <a:ext cx="1448373" cy="1162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C3C4E55-F2EC-EA9B-5D15-60411917D374}"/>
              </a:ext>
            </a:extLst>
          </p:cNvPr>
          <p:cNvSpPr txBox="1"/>
          <p:nvPr/>
        </p:nvSpPr>
        <p:spPr>
          <a:xfrm>
            <a:off x="4286250" y="4357160"/>
            <a:ext cx="4483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Subjects name must be like-&gt; </a:t>
            </a:r>
          </a:p>
          <a:p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CSE, EEE, PHY, CHEM, HUM, MATH, ChE, MTE, IEM </a:t>
            </a:r>
          </a:p>
          <a:p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and so 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66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" y="98440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304420" y="137900"/>
            <a:ext cx="3315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Formate</a:t>
            </a:r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Input Docx: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D8CB10-2AFB-DACE-4BA7-AA5D566A0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494" y="44450"/>
            <a:ext cx="7309506" cy="50990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68114F-2072-29D1-DFF8-9EB00C80A3CF}"/>
              </a:ext>
            </a:extLst>
          </p:cNvPr>
          <p:cNvCxnSpPr/>
          <p:nvPr/>
        </p:nvCxnSpPr>
        <p:spPr>
          <a:xfrm flipH="1">
            <a:off x="1084997" y="2094931"/>
            <a:ext cx="3050275" cy="76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6374973-037E-1194-CED6-D1BD3982894D}"/>
              </a:ext>
            </a:extLst>
          </p:cNvPr>
          <p:cNvSpPr txBox="1"/>
          <p:nvPr/>
        </p:nvSpPr>
        <p:spPr>
          <a:xfrm>
            <a:off x="-53338" y="2859206"/>
            <a:ext cx="2325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If both are same then use</a:t>
            </a:r>
            <a:endParaRPr lang="en-US" sz="11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Same as paper setter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“</a:t>
            </a:r>
          </a:p>
          <a:p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</a:p>
          <a:p>
            <a:r>
              <a:rPr lang="en-US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Insert Teacher’s name</a:t>
            </a:r>
          </a:p>
        </p:txBody>
      </p:sp>
    </p:spTree>
    <p:extLst>
      <p:ext uri="{BB962C8B-B14F-4D97-AF65-F5344CB8AC3E}">
        <p14:creationId xmlns:p14="http://schemas.microsoft.com/office/powerpoint/2010/main" val="207731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" y="98440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304420" y="137900"/>
            <a:ext cx="3315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Formate</a:t>
            </a:r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Input Docx: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86B5E-2F91-CAB6-A06A-81266D2C9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275" y="0"/>
            <a:ext cx="7274033" cy="50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50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" y="98440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304420" y="137900"/>
            <a:ext cx="3315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Formate</a:t>
            </a:r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Input Docx: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C6A596-0483-61A4-994C-C782B9F19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960" y="251726"/>
            <a:ext cx="3873151" cy="485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4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6"/>
            <a:ext cx="2882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excel format: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AA13B-6F2F-F147-165F-5EDA9868B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033" y="54401"/>
            <a:ext cx="6306944" cy="508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6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1" y="128616"/>
            <a:ext cx="167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DDFF3-DBC4-8128-1880-3310C193F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326" y="1204239"/>
            <a:ext cx="5606287" cy="3026101"/>
          </a:xfrm>
          <a:prstGeom prst="rect">
            <a:avLst/>
          </a:prstGeom>
        </p:spPr>
      </p:pic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72FD0E74-6571-7B83-7084-B0B1EF9BF0D1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2D5D5E95-39D0-4F7E-947B-1375C97ACD8C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0F6EB177-CDF9-3B2F-51FC-A5FAC43BD482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4346DD79-250D-A9DF-CA7D-734F75ACC9CF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52DA5A3B-E186-BDD0-E0DB-2B53795D3FE6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Arrow: Left 10">
            <a:extLst>
              <a:ext uri="{FF2B5EF4-FFF2-40B4-BE49-F238E27FC236}">
                <a16:creationId xmlns:a16="http://schemas.microsoft.com/office/drawing/2014/main" id="{D1308EB5-EBAF-1D62-66E1-0E8359DE67FA}"/>
              </a:ext>
            </a:extLst>
          </p:cNvPr>
          <p:cNvSpPr/>
          <p:nvPr/>
        </p:nvSpPr>
        <p:spPr>
          <a:xfrm rot="19493032">
            <a:off x="3387927" y="3329019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C576FA-6A10-2B85-C10D-3CF953E6CF0E}"/>
              </a:ext>
            </a:extLst>
          </p:cNvPr>
          <p:cNvSpPr txBox="1"/>
          <p:nvPr/>
        </p:nvSpPr>
        <p:spPr>
          <a:xfrm>
            <a:off x="2165350" y="359449"/>
            <a:ext cx="5891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Firstly , Log in if already have account or Sign Up</a:t>
            </a:r>
          </a:p>
        </p:txBody>
      </p:sp>
    </p:spTree>
    <p:extLst>
      <p:ext uri="{BB962C8B-B14F-4D97-AF65-F5344CB8AC3E}">
        <p14:creationId xmlns:p14="http://schemas.microsoft.com/office/powerpoint/2010/main" val="4040229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6"/>
            <a:ext cx="2003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5E01E2-52C5-7CFB-659D-76005F634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170224"/>
            <a:ext cx="5472853" cy="3063109"/>
          </a:xfrm>
          <a:prstGeom prst="rect">
            <a:avLst/>
          </a:prstGeom>
        </p:spPr>
      </p:pic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41AFF10E-06B5-D007-AD80-D349CC6B4A2D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9F22FD83-736D-223D-C318-55607C9FE093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47C24FE1-17EC-D690-0FCD-98A6B3096ACC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818FC3F3-068E-1FF4-935E-E32E1F10FFF5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18B47002-2857-65C8-7E19-19A62D3930E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8033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6"/>
            <a:ext cx="2003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41AFF10E-06B5-D007-AD80-D349CC6B4A2D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9F22FD83-736D-223D-C318-55607C9FE093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47C24FE1-17EC-D690-0FCD-98A6B3096ACC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818FC3F3-068E-1FF4-935E-E32E1F10FFF5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18B47002-2857-65C8-7E19-19A62D3930E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3DF5B7-AB23-5B41-12FA-A1AC75CFC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871" y="1198880"/>
            <a:ext cx="5489102" cy="3014134"/>
          </a:xfrm>
          <a:prstGeom prst="rect">
            <a:avLst/>
          </a:prstGeom>
        </p:spPr>
      </p:pic>
      <p:sp>
        <p:nvSpPr>
          <p:cNvPr id="13" name="Arrow: Left 12">
            <a:extLst>
              <a:ext uri="{FF2B5EF4-FFF2-40B4-BE49-F238E27FC236}">
                <a16:creationId xmlns:a16="http://schemas.microsoft.com/office/drawing/2014/main" id="{97297C62-1C9C-0987-3C9D-5DF63908F02D}"/>
              </a:ext>
            </a:extLst>
          </p:cNvPr>
          <p:cNvSpPr/>
          <p:nvPr/>
        </p:nvSpPr>
        <p:spPr>
          <a:xfrm rot="19493032">
            <a:off x="4840862" y="3329020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6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1" y="128616"/>
            <a:ext cx="167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72FD0E74-6571-7B83-7084-B0B1EF9BF0D1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2D5D5E95-39D0-4F7E-947B-1375C97ACD8C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0F6EB177-CDF9-3B2F-51FC-A5FAC43BD482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4346DD79-250D-A9DF-CA7D-734F75ACC9CF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52DA5A3B-E186-BDD0-E0DB-2B53795D3FE6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299A35B-D030-A300-729E-8FC8B912B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879" y="1217743"/>
            <a:ext cx="5500239" cy="2992306"/>
          </a:xfrm>
          <a:prstGeom prst="rect">
            <a:avLst/>
          </a:prstGeom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824A5E29-1A56-3698-2EC1-DA926021A973}"/>
              </a:ext>
            </a:extLst>
          </p:cNvPr>
          <p:cNvSpPr/>
          <p:nvPr/>
        </p:nvSpPr>
        <p:spPr>
          <a:xfrm rot="19493032">
            <a:off x="3415019" y="2955103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46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1" y="128616"/>
            <a:ext cx="167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348BB-2023-8BDF-E18D-918147DE4599}"/>
              </a:ext>
            </a:extLst>
          </p:cNvPr>
          <p:cNvSpPr txBox="1"/>
          <p:nvPr/>
        </p:nvSpPr>
        <p:spPr>
          <a:xfrm>
            <a:off x="6181725" y="1866900"/>
            <a:ext cx="2609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 err="1"/>
              <a:t>NB:After</a:t>
            </a:r>
            <a:r>
              <a:rPr lang="en-US" b="1" i="1" u="sng" dirty="0"/>
              <a:t> Login, you will find this excel 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Check the rates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If needed update 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F8C20-587C-64E2-91EA-0AB30C7E7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37" y="716155"/>
            <a:ext cx="5486830" cy="442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5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69429A-5945-D48C-04CC-C51F1C86A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172" y="1240669"/>
            <a:ext cx="5448481" cy="2979118"/>
          </a:xfrm>
          <a:prstGeom prst="rect">
            <a:avLst/>
          </a:prstGeom>
        </p:spPr>
      </p:pic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8F2C90D6-3029-BB99-75BA-A8AC72F81246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6" name="Google Shape;391;p32">
              <a:extLst>
                <a:ext uri="{FF2B5EF4-FFF2-40B4-BE49-F238E27FC236}">
                  <a16:creationId xmlns:a16="http://schemas.microsoft.com/office/drawing/2014/main" id="{9C4621B3-EAFA-1961-F862-6255C4CDC0F6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92;p32">
              <a:extLst>
                <a:ext uri="{FF2B5EF4-FFF2-40B4-BE49-F238E27FC236}">
                  <a16:creationId xmlns:a16="http://schemas.microsoft.com/office/drawing/2014/main" id="{E2492756-1DB7-728B-AC7B-8594C4A0143D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3;p32">
              <a:extLst>
                <a:ext uri="{FF2B5EF4-FFF2-40B4-BE49-F238E27FC236}">
                  <a16:creationId xmlns:a16="http://schemas.microsoft.com/office/drawing/2014/main" id="{7B8455F7-BCED-360A-627F-63A17E6385AC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4;p32">
              <a:extLst>
                <a:ext uri="{FF2B5EF4-FFF2-40B4-BE49-F238E27FC236}">
                  <a16:creationId xmlns:a16="http://schemas.microsoft.com/office/drawing/2014/main" id="{8FA2C62B-6E59-ED45-D92F-F2A1DDDB6B3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618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67FDD-D7B3-2DE0-CE44-681F0F3B3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197" y="1200177"/>
            <a:ext cx="5480230" cy="3006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CA639A-77E8-022B-9919-D8E733C23B74}"/>
              </a:ext>
            </a:extLst>
          </p:cNvPr>
          <p:cNvSpPr txBox="1"/>
          <p:nvPr/>
        </p:nvSpPr>
        <p:spPr>
          <a:xfrm>
            <a:off x="7726616" y="2658051"/>
            <a:ext cx="1078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 Picker</a:t>
            </a:r>
          </a:p>
        </p:txBody>
      </p:sp>
      <p:grpSp>
        <p:nvGrpSpPr>
          <p:cNvPr id="7" name="Google Shape;390;p32">
            <a:extLst>
              <a:ext uri="{FF2B5EF4-FFF2-40B4-BE49-F238E27FC236}">
                <a16:creationId xmlns:a16="http://schemas.microsoft.com/office/drawing/2014/main" id="{807BAA9D-4F6B-4280-C754-606727DC47CA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8" name="Google Shape;391;p32">
              <a:extLst>
                <a:ext uri="{FF2B5EF4-FFF2-40B4-BE49-F238E27FC236}">
                  <a16:creationId xmlns:a16="http://schemas.microsoft.com/office/drawing/2014/main" id="{2A939C39-CA86-E671-6D4E-88AA55575342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2;p32">
              <a:extLst>
                <a:ext uri="{FF2B5EF4-FFF2-40B4-BE49-F238E27FC236}">
                  <a16:creationId xmlns:a16="http://schemas.microsoft.com/office/drawing/2014/main" id="{A2A579DF-DF95-B45C-F1AC-7C45B8282A64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3;p32">
              <a:extLst>
                <a:ext uri="{FF2B5EF4-FFF2-40B4-BE49-F238E27FC236}">
                  <a16:creationId xmlns:a16="http://schemas.microsoft.com/office/drawing/2014/main" id="{3282BAAF-207C-1101-2E3E-18FC77685884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394;p32">
              <a:extLst>
                <a:ext uri="{FF2B5EF4-FFF2-40B4-BE49-F238E27FC236}">
                  <a16:creationId xmlns:a16="http://schemas.microsoft.com/office/drawing/2014/main" id="{DA6EC844-EB58-27CE-AFE6-5BA52D49BFD2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4A56DEA-F82D-716A-6F93-2556D59FA8B6}"/>
              </a:ext>
            </a:extLst>
          </p:cNvPr>
          <p:cNvSpPr/>
          <p:nvPr/>
        </p:nvSpPr>
        <p:spPr>
          <a:xfrm rot="19493032">
            <a:off x="6774594" y="2864578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45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A639A-77E8-022B-9919-D8E733C23B74}"/>
              </a:ext>
            </a:extLst>
          </p:cNvPr>
          <p:cNvSpPr txBox="1"/>
          <p:nvPr/>
        </p:nvSpPr>
        <p:spPr>
          <a:xfrm>
            <a:off x="7937130" y="2940910"/>
            <a:ext cx="1261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Email Picker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448E7-7272-782C-FB1C-7FDA8C1F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219857"/>
            <a:ext cx="5472853" cy="2959290"/>
          </a:xfrm>
          <a:prstGeom prst="rect">
            <a:avLst/>
          </a:prstGeom>
        </p:spPr>
      </p:pic>
      <p:grpSp>
        <p:nvGrpSpPr>
          <p:cNvPr id="9" name="Google Shape;390;p32">
            <a:extLst>
              <a:ext uri="{FF2B5EF4-FFF2-40B4-BE49-F238E27FC236}">
                <a16:creationId xmlns:a16="http://schemas.microsoft.com/office/drawing/2014/main" id="{2A8EBD47-B856-C47B-E376-A3A1FF3481C0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10" name="Google Shape;391;p32">
              <a:extLst>
                <a:ext uri="{FF2B5EF4-FFF2-40B4-BE49-F238E27FC236}">
                  <a16:creationId xmlns:a16="http://schemas.microsoft.com/office/drawing/2014/main" id="{9EF1BE87-9B46-D0E0-D8B8-2E8D8C24705C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392;p32">
              <a:extLst>
                <a:ext uri="{FF2B5EF4-FFF2-40B4-BE49-F238E27FC236}">
                  <a16:creationId xmlns:a16="http://schemas.microsoft.com/office/drawing/2014/main" id="{8ADAD78F-02E2-C98C-FBF8-07EF8A0D2D53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393;p32">
              <a:extLst>
                <a:ext uri="{FF2B5EF4-FFF2-40B4-BE49-F238E27FC236}">
                  <a16:creationId xmlns:a16="http://schemas.microsoft.com/office/drawing/2014/main" id="{78073B2C-7EBE-6465-2E45-45186067CEDB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94;p32">
              <a:extLst>
                <a:ext uri="{FF2B5EF4-FFF2-40B4-BE49-F238E27FC236}">
                  <a16:creationId xmlns:a16="http://schemas.microsoft.com/office/drawing/2014/main" id="{3FF3F72E-0785-CE95-8D32-78921EF0361B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Arrow: Left 13">
            <a:extLst>
              <a:ext uri="{FF2B5EF4-FFF2-40B4-BE49-F238E27FC236}">
                <a16:creationId xmlns:a16="http://schemas.microsoft.com/office/drawing/2014/main" id="{15675542-E8DE-93A4-7F92-5A6C553BE13B}"/>
              </a:ext>
            </a:extLst>
          </p:cNvPr>
          <p:cNvSpPr/>
          <p:nvPr/>
        </p:nvSpPr>
        <p:spPr>
          <a:xfrm rot="19493032">
            <a:off x="7090801" y="3171844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90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A639A-77E8-022B-9919-D8E733C23B74}"/>
              </a:ext>
            </a:extLst>
          </p:cNvPr>
          <p:cNvSpPr txBox="1"/>
          <p:nvPr/>
        </p:nvSpPr>
        <p:spPr>
          <a:xfrm>
            <a:off x="8023599" y="3079784"/>
            <a:ext cx="1261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Destination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448E7-7272-782C-FB1C-7FDA8C1F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21" y="1212427"/>
            <a:ext cx="5479626" cy="3040516"/>
          </a:xfrm>
          <a:prstGeom prst="rect">
            <a:avLst/>
          </a:prstGeom>
        </p:spPr>
      </p:pic>
      <p:grpSp>
        <p:nvGrpSpPr>
          <p:cNvPr id="2" name="Google Shape;390;p32">
            <a:extLst>
              <a:ext uri="{FF2B5EF4-FFF2-40B4-BE49-F238E27FC236}">
                <a16:creationId xmlns:a16="http://schemas.microsoft.com/office/drawing/2014/main" id="{AEAA4037-1525-DEB6-6BD3-AD0D2D1C8D7D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3" name="Google Shape;391;p32">
              <a:extLst>
                <a:ext uri="{FF2B5EF4-FFF2-40B4-BE49-F238E27FC236}">
                  <a16:creationId xmlns:a16="http://schemas.microsoft.com/office/drawing/2014/main" id="{2B33DA77-71AF-D21A-5DF0-5133928B67C7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92;p32">
              <a:extLst>
                <a:ext uri="{FF2B5EF4-FFF2-40B4-BE49-F238E27FC236}">
                  <a16:creationId xmlns:a16="http://schemas.microsoft.com/office/drawing/2014/main" id="{443ADE0D-2762-1A28-0C4E-ADD4BEDAC72E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3;p32">
              <a:extLst>
                <a:ext uri="{FF2B5EF4-FFF2-40B4-BE49-F238E27FC236}">
                  <a16:creationId xmlns:a16="http://schemas.microsoft.com/office/drawing/2014/main" id="{8F14C893-2757-B33F-BA53-E47012E95182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4;p32">
              <a:extLst>
                <a:ext uri="{FF2B5EF4-FFF2-40B4-BE49-F238E27FC236}">
                  <a16:creationId xmlns:a16="http://schemas.microsoft.com/office/drawing/2014/main" id="{F6FE5693-685F-1952-EE2E-864FFD9F84CB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Arrow: Left 9">
            <a:extLst>
              <a:ext uri="{FF2B5EF4-FFF2-40B4-BE49-F238E27FC236}">
                <a16:creationId xmlns:a16="http://schemas.microsoft.com/office/drawing/2014/main" id="{52E39C3E-286C-34BE-D575-62141476219D}"/>
              </a:ext>
            </a:extLst>
          </p:cNvPr>
          <p:cNvSpPr/>
          <p:nvPr/>
        </p:nvSpPr>
        <p:spPr>
          <a:xfrm rot="19493032">
            <a:off x="7177270" y="3431181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73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E165F-B755-8125-A283-2C87D102B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347" y="1210484"/>
            <a:ext cx="5479626" cy="2968663"/>
          </a:xfrm>
          <a:prstGeom prst="rect">
            <a:avLst/>
          </a:prstGeom>
        </p:spPr>
      </p:pic>
      <p:grpSp>
        <p:nvGrpSpPr>
          <p:cNvPr id="11" name="Google Shape;390;p32">
            <a:extLst>
              <a:ext uri="{FF2B5EF4-FFF2-40B4-BE49-F238E27FC236}">
                <a16:creationId xmlns:a16="http://schemas.microsoft.com/office/drawing/2014/main" id="{83B3CA21-F120-8839-B81E-65426ADEE975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12" name="Google Shape;391;p32">
              <a:extLst>
                <a:ext uri="{FF2B5EF4-FFF2-40B4-BE49-F238E27FC236}">
                  <a16:creationId xmlns:a16="http://schemas.microsoft.com/office/drawing/2014/main" id="{E10B1EF6-20F8-EF25-0BEA-D7620434ECB8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92;p32">
              <a:extLst>
                <a:ext uri="{FF2B5EF4-FFF2-40B4-BE49-F238E27FC236}">
                  <a16:creationId xmlns:a16="http://schemas.microsoft.com/office/drawing/2014/main" id="{5B9427D1-9369-295D-7782-921C673C5646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93;p32">
              <a:extLst>
                <a:ext uri="{FF2B5EF4-FFF2-40B4-BE49-F238E27FC236}">
                  <a16:creationId xmlns:a16="http://schemas.microsoft.com/office/drawing/2014/main" id="{A87E7A54-E6C8-3E01-8DB6-4D0D05A71D87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94;p32">
              <a:extLst>
                <a:ext uri="{FF2B5EF4-FFF2-40B4-BE49-F238E27FC236}">
                  <a16:creationId xmlns:a16="http://schemas.microsoft.com/office/drawing/2014/main" id="{C560ADED-6ED3-32A7-D7BD-697BF6BD72B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Arrow: Left 15">
            <a:extLst>
              <a:ext uri="{FF2B5EF4-FFF2-40B4-BE49-F238E27FC236}">
                <a16:creationId xmlns:a16="http://schemas.microsoft.com/office/drawing/2014/main" id="{587CDA8C-8961-FB13-9B9A-27F2C8FB2A97}"/>
              </a:ext>
            </a:extLst>
          </p:cNvPr>
          <p:cNvSpPr/>
          <p:nvPr/>
        </p:nvSpPr>
        <p:spPr>
          <a:xfrm rot="19493032">
            <a:off x="5221739" y="3535419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81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DD6BB-F8C2-1248-B85E-4B1CA1478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293" y="1149494"/>
            <a:ext cx="5574454" cy="3131253"/>
          </a:xfrm>
          <a:prstGeom prst="rect">
            <a:avLst/>
          </a:prstGeom>
        </p:spPr>
      </p:pic>
      <p:grpSp>
        <p:nvGrpSpPr>
          <p:cNvPr id="4" name="Google Shape;390;p32">
            <a:extLst>
              <a:ext uri="{FF2B5EF4-FFF2-40B4-BE49-F238E27FC236}">
                <a16:creationId xmlns:a16="http://schemas.microsoft.com/office/drawing/2014/main" id="{22543EB9-9FCB-2B0B-4E8E-800678B53A3D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5" name="Google Shape;391;p32">
              <a:extLst>
                <a:ext uri="{FF2B5EF4-FFF2-40B4-BE49-F238E27FC236}">
                  <a16:creationId xmlns:a16="http://schemas.microsoft.com/office/drawing/2014/main" id="{43832953-D220-650C-E19A-557EB8E4153A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92;p32">
              <a:extLst>
                <a:ext uri="{FF2B5EF4-FFF2-40B4-BE49-F238E27FC236}">
                  <a16:creationId xmlns:a16="http://schemas.microsoft.com/office/drawing/2014/main" id="{0DB6C65D-9C81-23DF-3FCF-C36D04C13724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93;p32">
              <a:extLst>
                <a:ext uri="{FF2B5EF4-FFF2-40B4-BE49-F238E27FC236}">
                  <a16:creationId xmlns:a16="http://schemas.microsoft.com/office/drawing/2014/main" id="{3B606F99-47E9-4090-6D49-454C2C47B6FC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4;p32">
              <a:extLst>
                <a:ext uri="{FF2B5EF4-FFF2-40B4-BE49-F238E27FC236}">
                  <a16:creationId xmlns:a16="http://schemas.microsoft.com/office/drawing/2014/main" id="{BDB2FEE1-27AC-82AB-79AE-83A4EDBD872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7426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6" y="253037"/>
            <a:ext cx="5356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Output of a teacher’s excel: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F4DA53-465D-0101-C5EC-42D12EDD1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580" y="668137"/>
            <a:ext cx="4793594" cy="444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7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E165F-B755-8125-A283-2C87D102B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655" y="1200894"/>
            <a:ext cx="5510092" cy="3012119"/>
          </a:xfrm>
          <a:prstGeom prst="rect">
            <a:avLst/>
          </a:prstGeom>
        </p:spPr>
      </p:pic>
      <p:grpSp>
        <p:nvGrpSpPr>
          <p:cNvPr id="2" name="Google Shape;390;p32">
            <a:extLst>
              <a:ext uri="{FF2B5EF4-FFF2-40B4-BE49-F238E27FC236}">
                <a16:creationId xmlns:a16="http://schemas.microsoft.com/office/drawing/2014/main" id="{D5CD06E4-CC3C-D0BA-6694-6575CF672ACA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3" name="Google Shape;391;p32">
              <a:extLst>
                <a:ext uri="{FF2B5EF4-FFF2-40B4-BE49-F238E27FC236}">
                  <a16:creationId xmlns:a16="http://schemas.microsoft.com/office/drawing/2014/main" id="{90DE8EF5-7F15-40C9-4667-E6116951B051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392;p32">
              <a:extLst>
                <a:ext uri="{FF2B5EF4-FFF2-40B4-BE49-F238E27FC236}">
                  <a16:creationId xmlns:a16="http://schemas.microsoft.com/office/drawing/2014/main" id="{2F5ABAD2-665B-6C60-99E1-7C90B292EEF4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93;p32">
              <a:extLst>
                <a:ext uri="{FF2B5EF4-FFF2-40B4-BE49-F238E27FC236}">
                  <a16:creationId xmlns:a16="http://schemas.microsoft.com/office/drawing/2014/main" id="{C72268B1-F049-0FEC-2E9A-0E585B7DA4A6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94;p32">
              <a:extLst>
                <a:ext uri="{FF2B5EF4-FFF2-40B4-BE49-F238E27FC236}">
                  <a16:creationId xmlns:a16="http://schemas.microsoft.com/office/drawing/2014/main" id="{66013860-EDE1-2B75-C665-60C82DFF46DB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Arrow: Left 6">
            <a:extLst>
              <a:ext uri="{FF2B5EF4-FFF2-40B4-BE49-F238E27FC236}">
                <a16:creationId xmlns:a16="http://schemas.microsoft.com/office/drawing/2014/main" id="{95A63BF2-B639-977D-865B-C75777493B35}"/>
              </a:ext>
            </a:extLst>
          </p:cNvPr>
          <p:cNvSpPr/>
          <p:nvPr/>
        </p:nvSpPr>
        <p:spPr>
          <a:xfrm rot="12674969">
            <a:off x="1191584" y="3593833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60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EC8E1D-6360-033D-1919-32A95403C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034" y="714702"/>
            <a:ext cx="2723681" cy="421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31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E3B6B-3F32-4A41-B565-4545D72AD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06" y="1389742"/>
            <a:ext cx="7603598" cy="306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58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0B3043-E001-731F-6FD4-1A5867E3D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799" y="1217695"/>
            <a:ext cx="5472853" cy="2995318"/>
          </a:xfrm>
          <a:prstGeom prst="rect">
            <a:avLst/>
          </a:prstGeom>
        </p:spPr>
      </p:pic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2369420A-6FED-B51A-7F88-B5CD56F21B17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6" name="Google Shape;391;p32">
              <a:extLst>
                <a:ext uri="{FF2B5EF4-FFF2-40B4-BE49-F238E27FC236}">
                  <a16:creationId xmlns:a16="http://schemas.microsoft.com/office/drawing/2014/main" id="{DE562A9F-D991-231D-9116-F32CAA194E94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92;p32">
              <a:extLst>
                <a:ext uri="{FF2B5EF4-FFF2-40B4-BE49-F238E27FC236}">
                  <a16:creationId xmlns:a16="http://schemas.microsoft.com/office/drawing/2014/main" id="{B86FE049-18E5-BA4E-3E76-DFEA9811FB44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3;p32">
              <a:extLst>
                <a:ext uri="{FF2B5EF4-FFF2-40B4-BE49-F238E27FC236}">
                  <a16:creationId xmlns:a16="http://schemas.microsoft.com/office/drawing/2014/main" id="{4D71C7B2-3C54-E561-CD2D-65AB78C1B5AF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4;p32">
              <a:extLst>
                <a:ext uri="{FF2B5EF4-FFF2-40B4-BE49-F238E27FC236}">
                  <a16:creationId xmlns:a16="http://schemas.microsoft.com/office/drawing/2014/main" id="{5F044EA5-D2E9-87F5-F908-B923B9883CFB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Arrow: Left 9">
            <a:extLst>
              <a:ext uri="{FF2B5EF4-FFF2-40B4-BE49-F238E27FC236}">
                <a16:creationId xmlns:a16="http://schemas.microsoft.com/office/drawing/2014/main" id="{575E31A4-A6CA-EBB5-E693-B3F8E67EAF25}"/>
              </a:ext>
            </a:extLst>
          </p:cNvPr>
          <p:cNvSpPr/>
          <p:nvPr/>
        </p:nvSpPr>
        <p:spPr>
          <a:xfrm rot="19532709">
            <a:off x="7021980" y="3528292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18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0D19E-F0AB-90A7-AEBC-138C46C6E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627" y="1234803"/>
            <a:ext cx="5500744" cy="2982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A5D8A0-89B4-2A8B-EBE0-B695E1403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427" y="2119337"/>
            <a:ext cx="1692040" cy="562903"/>
          </a:xfrm>
          <a:prstGeom prst="rect">
            <a:avLst/>
          </a:prstGeom>
        </p:spPr>
      </p:pic>
      <p:grpSp>
        <p:nvGrpSpPr>
          <p:cNvPr id="10" name="Google Shape;390;p32">
            <a:extLst>
              <a:ext uri="{FF2B5EF4-FFF2-40B4-BE49-F238E27FC236}">
                <a16:creationId xmlns:a16="http://schemas.microsoft.com/office/drawing/2014/main" id="{CB27D483-B634-A374-0D48-72489D6D64EF}"/>
              </a:ext>
            </a:extLst>
          </p:cNvPr>
          <p:cNvGrpSpPr/>
          <p:nvPr/>
        </p:nvGrpSpPr>
        <p:grpSpPr>
          <a:xfrm>
            <a:off x="1048848" y="1022788"/>
            <a:ext cx="7046303" cy="3576305"/>
            <a:chOff x="1177450" y="241631"/>
            <a:chExt cx="6173152" cy="3616776"/>
          </a:xfrm>
        </p:grpSpPr>
        <p:sp>
          <p:nvSpPr>
            <p:cNvPr id="11" name="Google Shape;391;p32">
              <a:extLst>
                <a:ext uri="{FF2B5EF4-FFF2-40B4-BE49-F238E27FC236}">
                  <a16:creationId xmlns:a16="http://schemas.microsoft.com/office/drawing/2014/main" id="{538A1B2E-5A46-F801-058A-D79BF22A099A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392;p32">
              <a:extLst>
                <a:ext uri="{FF2B5EF4-FFF2-40B4-BE49-F238E27FC236}">
                  <a16:creationId xmlns:a16="http://schemas.microsoft.com/office/drawing/2014/main" id="{AA2CCF0B-03BA-6C43-83F2-D1454268A6EF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93;p32">
              <a:extLst>
                <a:ext uri="{FF2B5EF4-FFF2-40B4-BE49-F238E27FC236}">
                  <a16:creationId xmlns:a16="http://schemas.microsoft.com/office/drawing/2014/main" id="{F741BE1E-257E-3900-51AB-78BAE5FA8A6A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94;p32">
              <a:extLst>
                <a:ext uri="{FF2B5EF4-FFF2-40B4-BE49-F238E27FC236}">
                  <a16:creationId xmlns:a16="http://schemas.microsoft.com/office/drawing/2014/main" id="{EF2113A4-E371-3B2F-A5B8-BB3C0EC9C3D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285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0CB88F-6317-2DC8-4BBE-C4111F133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341" y="914400"/>
            <a:ext cx="3832446" cy="39465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FFFC72-CC1F-9958-2B06-47CD60120F8E}"/>
              </a:ext>
            </a:extLst>
          </p:cNvPr>
          <p:cNvSpPr txBox="1"/>
          <p:nvPr/>
        </p:nvSpPr>
        <p:spPr>
          <a:xfrm>
            <a:off x="6583679" y="2263973"/>
            <a:ext cx="17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Email Received</a:t>
            </a:r>
          </a:p>
        </p:txBody>
      </p:sp>
    </p:spTree>
    <p:extLst>
      <p:ext uri="{BB962C8B-B14F-4D97-AF65-F5344CB8AC3E}">
        <p14:creationId xmlns:p14="http://schemas.microsoft.com/office/powerpoint/2010/main" val="2619189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F942B-8B0C-D1AE-6DFD-D85A7CD76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647" y="199128"/>
            <a:ext cx="4064964" cy="4868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9523D9-53FA-118C-9E57-F24355ABA09D}"/>
              </a:ext>
            </a:extLst>
          </p:cNvPr>
          <p:cNvSpPr txBox="1"/>
          <p:nvPr/>
        </p:nvSpPr>
        <p:spPr>
          <a:xfrm>
            <a:off x="6291618" y="651887"/>
            <a:ext cx="2606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NB:</a:t>
            </a:r>
            <a:br>
              <a:rPr lang="en-US" sz="1200" b="1" dirty="0"/>
            </a:br>
            <a:r>
              <a:rPr lang="en-US" sz="1200" b="1" dirty="0">
                <a:solidFill>
                  <a:srgbClr val="FF0000"/>
                </a:solidFill>
              </a:rPr>
              <a:t>1.Table 1 has been considered as reference teacher’s name</a:t>
            </a:r>
          </a:p>
          <a:p>
            <a:endParaRPr lang="en-US" sz="1200" b="1" dirty="0">
              <a:solidFill>
                <a:srgbClr val="FF0000"/>
              </a:solidFill>
            </a:endParaRPr>
          </a:p>
          <a:p>
            <a:r>
              <a:rPr lang="en-US" sz="1200" b="1" dirty="0">
                <a:solidFill>
                  <a:srgbClr val="FF0000"/>
                </a:solidFill>
              </a:rPr>
              <a:t>2</a:t>
            </a:r>
            <a:r>
              <a:rPr lang="en-US" sz="1200" dirty="0">
                <a:solidFill>
                  <a:srgbClr val="FF0000"/>
                </a:solidFill>
              </a:rPr>
              <a:t>.</a:t>
            </a:r>
            <a:r>
              <a:rPr lang="en-US" sz="1200" b="1" dirty="0">
                <a:solidFill>
                  <a:srgbClr val="FF0000"/>
                </a:solidFill>
              </a:rPr>
              <a:t>All teacher’s name must be in this table with correct spelling </a:t>
            </a:r>
          </a:p>
        </p:txBody>
      </p:sp>
    </p:spTree>
    <p:extLst>
      <p:ext uri="{BB962C8B-B14F-4D97-AF65-F5344CB8AC3E}">
        <p14:creationId xmlns:p14="http://schemas.microsoft.com/office/powerpoint/2010/main" val="2611669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249A0B-8DDF-1024-CA94-E927E6EBB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38" y="861050"/>
            <a:ext cx="5814148" cy="3898739"/>
          </a:xfrm>
          <a:prstGeom prst="rect">
            <a:avLst/>
          </a:prstGeom>
        </p:spPr>
      </p:pic>
      <p:sp>
        <p:nvSpPr>
          <p:cNvPr id="4" name="Half Frame 3">
            <a:extLst>
              <a:ext uri="{FF2B5EF4-FFF2-40B4-BE49-F238E27FC236}">
                <a16:creationId xmlns:a16="http://schemas.microsoft.com/office/drawing/2014/main" id="{BCCC4811-5E26-CB63-93DB-559C90889D26}"/>
              </a:ext>
            </a:extLst>
          </p:cNvPr>
          <p:cNvSpPr/>
          <p:nvPr/>
        </p:nvSpPr>
        <p:spPr>
          <a:xfrm rot="7734070">
            <a:off x="1907017" y="1622133"/>
            <a:ext cx="1433529" cy="135843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7CA658-376A-2011-25BC-C256A4FE5D8D}"/>
              </a:ext>
            </a:extLst>
          </p:cNvPr>
          <p:cNvCxnSpPr/>
          <p:nvPr/>
        </p:nvCxnSpPr>
        <p:spPr>
          <a:xfrm>
            <a:off x="5090615" y="3951027"/>
            <a:ext cx="12419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59CA0B-3714-D0D8-D569-3F159FA7606F}"/>
              </a:ext>
            </a:extLst>
          </p:cNvPr>
          <p:cNvCxnSpPr/>
          <p:nvPr/>
        </p:nvCxnSpPr>
        <p:spPr>
          <a:xfrm flipV="1">
            <a:off x="3602483" y="1733266"/>
            <a:ext cx="2648192" cy="436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949146F-81C2-2DDF-D768-88AA416B4459}"/>
              </a:ext>
            </a:extLst>
          </p:cNvPr>
          <p:cNvSpPr txBox="1"/>
          <p:nvPr/>
        </p:nvSpPr>
        <p:spPr>
          <a:xfrm>
            <a:off x="6428096" y="955344"/>
            <a:ext cx="2648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1.This problem represents </a:t>
            </a:r>
            <a:r>
              <a:rPr lang="en-US" sz="1200" b="1" dirty="0">
                <a:solidFill>
                  <a:srgbClr val="FF0000"/>
                </a:solidFill>
              </a:rPr>
              <a:t>name (Dr </a:t>
            </a:r>
            <a:r>
              <a:rPr lang="en-US" sz="1200" b="1" dirty="0" err="1">
                <a:solidFill>
                  <a:srgbClr val="FF0000"/>
                </a:solidFill>
              </a:rPr>
              <a:t>Massura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Mostofa</a:t>
            </a:r>
            <a:r>
              <a:rPr lang="en-US" sz="1200" b="1" dirty="0">
                <a:solidFill>
                  <a:srgbClr val="FF0000"/>
                </a:solidFill>
              </a:rPr>
              <a:t>) in table 3,4,5 is not in the first table</a:t>
            </a:r>
            <a:r>
              <a:rPr lang="en-US" sz="1200" b="1" dirty="0"/>
              <a:t> where all the teachers name are contained. To Solve this issue, Please add the exact name in the first 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4EE1DB-9F4A-C112-E106-C2E9F3E601AD}"/>
              </a:ext>
            </a:extLst>
          </p:cNvPr>
          <p:cNvSpPr txBox="1"/>
          <p:nvPr/>
        </p:nvSpPr>
        <p:spPr>
          <a:xfrm>
            <a:off x="6428096" y="2498636"/>
            <a:ext cx="25253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2.This (warning)</a:t>
            </a:r>
            <a:r>
              <a:rPr lang="en-US" sz="1200" b="1" dirty="0">
                <a:solidFill>
                  <a:srgbClr val="FF0000"/>
                </a:solidFill>
              </a:rPr>
              <a:t>Problem represents missing table entry in table 11,12,13 </a:t>
            </a:r>
            <a:r>
              <a:rPr lang="en-US" sz="1200" b="1" dirty="0"/>
              <a:t>no need to modify if the table entries are not needed or fill the table entries with appropriate 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972A1-0302-5E6F-A663-BDB3933005B0}"/>
              </a:ext>
            </a:extLst>
          </p:cNvPr>
          <p:cNvSpPr txBox="1"/>
          <p:nvPr/>
        </p:nvSpPr>
        <p:spPr>
          <a:xfrm>
            <a:off x="6550925" y="3684896"/>
            <a:ext cx="25253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3. This problem says that </a:t>
            </a:r>
            <a:r>
              <a:rPr lang="en-US" sz="1200" b="1" dirty="0">
                <a:solidFill>
                  <a:srgbClr val="FF0000"/>
                </a:solidFill>
              </a:rPr>
              <a:t>entry name of </a:t>
            </a:r>
            <a:r>
              <a:rPr lang="en-US" sz="1200" b="1" dirty="0" err="1">
                <a:solidFill>
                  <a:srgbClr val="FF0000"/>
                </a:solidFill>
              </a:rPr>
              <a:t>Nazia</a:t>
            </a:r>
            <a:r>
              <a:rPr lang="en-US" sz="1200" b="1" dirty="0">
                <a:solidFill>
                  <a:srgbClr val="FF0000"/>
                </a:solidFill>
              </a:rPr>
              <a:t> Madam is not in the </a:t>
            </a:r>
            <a:r>
              <a:rPr lang="en-US" sz="1200" b="1" dirty="0" err="1">
                <a:solidFill>
                  <a:srgbClr val="FF0000"/>
                </a:solidFill>
              </a:rPr>
              <a:t>bangla_name</a:t>
            </a:r>
            <a:r>
              <a:rPr lang="en-US" sz="1200" b="1" dirty="0">
                <a:solidFill>
                  <a:srgbClr val="FF0000"/>
                </a:solidFill>
              </a:rPr>
              <a:t> excel file </a:t>
            </a:r>
            <a:r>
              <a:rPr lang="en-US" sz="1200" b="1" dirty="0"/>
              <a:t>where corresponded </a:t>
            </a:r>
            <a:r>
              <a:rPr lang="en-US" sz="1200" b="1" dirty="0" err="1"/>
              <a:t>bangla</a:t>
            </a:r>
            <a:r>
              <a:rPr lang="en-US" sz="1200" b="1" dirty="0"/>
              <a:t> teacher’s name are stored. Fill the Teacher name as same in the docx file and fill up relative teacher’s Bengali name.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ABF09-566F-698C-A9E7-21FE33CAC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57" y="3285694"/>
            <a:ext cx="2868098" cy="58366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4C483A-02CE-2822-14D1-60F7177C4646}"/>
              </a:ext>
            </a:extLst>
          </p:cNvPr>
          <p:cNvCxnSpPr/>
          <p:nvPr/>
        </p:nvCxnSpPr>
        <p:spPr>
          <a:xfrm flipV="1">
            <a:off x="3098042" y="2729552"/>
            <a:ext cx="3330054" cy="847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317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6" y="282555"/>
            <a:ext cx="749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Handling: How to Fill Bengali Name of New Teachers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C7D41-FCB0-F6ED-A69F-51161FDF0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60" y="783414"/>
            <a:ext cx="4124933" cy="1636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849ADF-9EB6-5D80-F409-E13CABDB9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60" y="2571750"/>
            <a:ext cx="4572000" cy="980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975AFC-F78F-3A36-010D-A54CDEEE1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06" y="3810324"/>
            <a:ext cx="4374107" cy="1099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6909-7CD8-EA9A-BB87-6DA72576840B}"/>
              </a:ext>
            </a:extLst>
          </p:cNvPr>
          <p:cNvSpPr txBox="1"/>
          <p:nvPr/>
        </p:nvSpPr>
        <p:spPr>
          <a:xfrm>
            <a:off x="5295330" y="1105469"/>
            <a:ext cx="3657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1.First go to the installation directory and go to data folder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9C9665-794B-8F37-9E6F-F948B45408CC}"/>
              </a:ext>
            </a:extLst>
          </p:cNvPr>
          <p:cNvSpPr txBox="1"/>
          <p:nvPr/>
        </p:nvSpPr>
        <p:spPr>
          <a:xfrm>
            <a:off x="5295330" y="2571750"/>
            <a:ext cx="23337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2. Now Go to excel-files folder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BC5F6-3A86-2414-6086-1CB0E87198F2}"/>
              </a:ext>
            </a:extLst>
          </p:cNvPr>
          <p:cNvSpPr txBox="1"/>
          <p:nvPr/>
        </p:nvSpPr>
        <p:spPr>
          <a:xfrm>
            <a:off x="5319289" y="3898421"/>
            <a:ext cx="3609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3.Now Open the bangla_teachers_name.xlsx and modify the file</a:t>
            </a:r>
          </a:p>
        </p:txBody>
      </p:sp>
    </p:spTree>
    <p:extLst>
      <p:ext uri="{BB962C8B-B14F-4D97-AF65-F5344CB8AC3E}">
        <p14:creationId xmlns:p14="http://schemas.microsoft.com/office/powerpoint/2010/main" val="3289833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1226</TotalTime>
  <Words>483</Words>
  <Application>Microsoft Office PowerPoint</Application>
  <PresentationFormat>On-screen Show (16:9)</PresentationFormat>
  <Paragraphs>89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Aptos Display</vt:lpstr>
      <vt:lpstr>Calibri Light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BillForGE KUET TEACHERS’ EDITION (An AUTOMATIC BILL Generator from docx file)</dc:title>
  <dc:creator>ASUS</dc:creator>
  <cp:lastModifiedBy>swarajchbiswas66@gmail.com</cp:lastModifiedBy>
  <cp:revision>23</cp:revision>
  <dcterms:modified xsi:type="dcterms:W3CDTF">2024-05-04T18:22:25Z</dcterms:modified>
</cp:coreProperties>
</file>